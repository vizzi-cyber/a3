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F46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1371600"/>
            <a:ext cx="5029200" cy="5029200"/>
          </a:xfrm>
          <a:prstGeom prst="ellipse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4114800"/>
            <a:ext cx="4114800" cy="4114800"/>
          </a:xfrm>
          <a:prstGeom prst="ellipse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C语言指针 详解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918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7D2FE"/>
                </a:solidFill>
                <a:latin typeface="Microsoft YaHei"/>
              </a:defRPr>
            </a:pPr>
            <a:r>
              <a:t>C语言 · 从概念到实战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029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5B4FC"/>
                </a:solidFill>
                <a:latin typeface="Microsoft YaHei"/>
              </a:defRPr>
            </a:pPr>
            <a:r>
              <a:t>LearnLab · 智能生成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64008" cy="457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93B"/>
                </a:solidFill>
                <a:latin typeface="Microsoft YaHei"/>
              </a:defRPr>
            </a:pPr>
            <a:r>
              <a:t>什么是C语言指针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5156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463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F46E5"/>
                </a:solidFill>
                <a:latin typeface="Microsoft YaHei"/>
              </a:defRPr>
            </a:pPr>
            <a:r>
              <a:t>C语言指针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965960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Microsoft YaHei"/>
              </a:defRPr>
            </a:pPr>
            <a:r>
              <a:t>C语言指针是C语言中的核心概念，掌握它是理解后续高级内容的基础。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089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Microsoft YaHei"/>
              </a:defRPr>
            </a:pPr>
            <a:r>
              <a:t>核心性质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566160"/>
            <a:ext cx="32918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8680" y="3703320"/>
            <a:ext cx="365760" cy="36576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365760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Microsoft YaHei"/>
              </a:defRPr>
            </a:pPr>
            <a:r>
              <a:t>C语言指针的基本特征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3566160"/>
            <a:ext cx="32918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434840" y="3703320"/>
            <a:ext cx="365760" cy="36576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365760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Microsoft YaHei"/>
              </a:defRPr>
            </a:pPr>
            <a:r>
              <a:t>C语言指针的核心性质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3566160"/>
            <a:ext cx="32918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001000" y="3703320"/>
            <a:ext cx="365760" cy="36576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365760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Microsoft YaHei"/>
              </a:defRPr>
            </a:pPr>
            <a:r>
              <a:t>C语言指针的分类方式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029200"/>
            <a:ext cx="10515600" cy="9144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50749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EA5E9"/>
                </a:solidFill>
                <a:latin typeface="Microsoft YaHei"/>
              </a:defRPr>
            </a:pPr>
            <a:r>
              <a:t>💡 类比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44068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Microsoft YaHei"/>
              </a:defRPr>
            </a:pPr>
            <a:r>
              <a:t>可以用生活中的例子来类比理解C语言指针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64008" cy="457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93B"/>
                </a:solidFill>
                <a:latin typeface="Microsoft YaHei"/>
              </a:defRPr>
            </a:pPr>
            <a:r>
              <a:t>C语言指针的结构定义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9601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Microsoft YaHei"/>
              </a:defRPr>
            </a:pPr>
            <a:r>
              <a:t>C语言指针在C语言中的表示方式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029200" cy="41148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0876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字段名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150876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类型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50876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说明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920240"/>
            <a:ext cx="502920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96596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F46E5"/>
                </a:solidFill>
                <a:latin typeface="Consolas"/>
              </a:defRPr>
            </a:pPr>
            <a:r>
              <a:t>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196596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EA5E9"/>
                </a:solidFill>
                <a:latin typeface="Consolas"/>
              </a:defRPr>
            </a:pPr>
            <a:r>
              <a:t>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196596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数据域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377440"/>
            <a:ext cx="5029200" cy="4114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42316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F46E5"/>
                </a:solidFill>
                <a:latin typeface="Consolas"/>
              </a:defRPr>
            </a:pPr>
            <a:r>
              <a:t>next/link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242316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EA5E9"/>
                </a:solidFill>
                <a:latin typeface="Consolas"/>
              </a:defRPr>
            </a:pPr>
            <a:r>
              <a:t>指针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242316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链接域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Microsoft YaHei"/>
              </a:defRPr>
            </a:pPr>
            <a:r>
              <a:t>C语言定义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1920240"/>
            <a:ext cx="5029200" cy="41148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205740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4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// C语言指针的C语言定义</a:t>
            </a:r>
          </a:p>
          <a:p>
            <a:pPr>
              <a:spcAft>
                <a:spcPts val="84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typedef struct {</a:t>
            </a:r>
          </a:p>
          <a:p>
            <a:pPr>
              <a:spcAft>
                <a:spcPts val="84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    int data;</a:t>
            </a:r>
          </a:p>
          <a:p>
            <a:pPr>
              <a:spcAft>
                <a:spcPts val="84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    // 其他字段</a:t>
            </a:r>
          </a:p>
          <a:p>
            <a:pPr>
              <a:spcAft>
                <a:spcPts val="84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} C语言指针Type;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64008" cy="457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93B"/>
                </a:solidFill>
                <a:latin typeface="Microsoft YaHei"/>
              </a:defRPr>
            </a:pPr>
            <a:r>
              <a:t>C语言指针的基本操作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9601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Microsoft YaHei"/>
              </a:defRPr>
            </a:pPr>
            <a:r>
              <a:t>C语言指针最常用的操作及实现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Microsoft YaHei"/>
              </a:defRPr>
            </a:pPr>
            <a:r>
              <a:t>执行步骤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02920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1783080"/>
            <a:ext cx="292608" cy="292608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78308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步骤1：初始化C语言指针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40280"/>
            <a:ext cx="502920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22960" y="2286000"/>
            <a:ext cx="292608" cy="292608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28600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步骤2：执行核心操作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743200"/>
            <a:ext cx="502920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22960" y="2788920"/>
            <a:ext cx="292608" cy="292608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78892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步骤3：处理边界条件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246120"/>
            <a:ext cx="502920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22960" y="3291839"/>
            <a:ext cx="292608" cy="292608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291839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步骤4：返回结果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371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Microsoft YaHei"/>
              </a:defRPr>
            </a:pPr>
            <a:r>
              <a:t>C语言实现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737360"/>
            <a:ext cx="5029200" cy="29260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1874520"/>
            <a:ext cx="46634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// C语言指针核心操作</a:t>
            </a:r>
          </a:p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void operation(C语言指针Type *S) {</a:t>
            </a:r>
          </a:p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    if (S == NULL) return;</a:t>
            </a:r>
          </a:p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    // 核心逻辑</a:t>
            </a:r>
          </a:p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    printf("操作完成");</a:t>
            </a:r>
          </a:p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4846320"/>
            <a:ext cx="5029200" cy="118872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4892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Microsoft YaHei"/>
              </a:defRPr>
            </a:pPr>
            <a:r>
              <a:t>复杂度分析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5212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Consolas"/>
              </a:defRPr>
            </a:pPr>
            <a:r>
              <a:t>时间: O(n)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52120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Consolas"/>
              </a:defRPr>
            </a:pPr>
            <a:r>
              <a:t>空间: O(1)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553212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Microsoft YaHei"/>
              </a:defRPr>
            </a:pPr>
            <a:r>
              <a:t>需要遍历所有元素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64008" cy="457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93B"/>
                </a:solidFill>
                <a:latin typeface="Microsoft YaHei"/>
              </a:defRPr>
            </a:pPr>
            <a:r>
              <a:t>C语言指针关键代码解析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303520" cy="47548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49377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// C语言指针的关键代码片段</a:t>
            </a:r>
          </a:p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int key_code(C语言指针Type *S) {</a:t>
            </a:r>
          </a:p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    int result = 0;</a:t>
            </a:r>
          </a:p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    while (S != NULL) {</a:t>
            </a:r>
          </a:p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        result += S-&gt;data;</a:t>
            </a:r>
          </a:p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        S = S-&gt;next;</a:t>
            </a:r>
          </a:p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    }</a:t>
            </a:r>
          </a:p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    return result;</a:t>
            </a:r>
          </a:p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Microsoft YaHei"/>
              </a:defRPr>
            </a:pPr>
            <a:r>
              <a:t>逐行解析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828800"/>
            <a:ext cx="50292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87451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F46E5"/>
                </a:solidFill>
                <a:latin typeface="Consolas"/>
              </a:defRPr>
            </a:pPr>
            <a:r>
              <a:t>第3行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12140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Microsoft YaHei"/>
              </a:defRPr>
            </a:pPr>
            <a:r>
              <a:t>初始化结果变量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606040"/>
            <a:ext cx="50292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651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F46E5"/>
                </a:solidFill>
                <a:latin typeface="Consolas"/>
              </a:defRPr>
            </a:pPr>
            <a:r>
              <a:t>第4-7行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89864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Microsoft YaHei"/>
              </a:defRPr>
            </a:pPr>
            <a:r>
              <a:t>循环遍历每个节点，累加数据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3383280"/>
            <a:ext cx="50292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34290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F46E5"/>
                </a:solidFill>
                <a:latin typeface="Consolas"/>
              </a:defRPr>
            </a:pPr>
            <a:r>
              <a:t>第8行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67588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Microsoft YaHei"/>
              </a:defRPr>
            </a:pPr>
            <a:r>
              <a:t>返回最终结果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64008" cy="457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93B"/>
                </a:solidFill>
                <a:latin typeface="Microsoft YaHei"/>
              </a:defRPr>
            </a:pPr>
            <a:r>
              <a:t>C语言指针与其他方案对比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8229600" cy="45720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对比项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14173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C语言指针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59" y="14173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替代方案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74519"/>
            <a:ext cx="82296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92023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  <a:latin typeface="Microsoft YaHei"/>
              </a:defRPr>
            </a:pPr>
            <a:r>
              <a:t>时间复杂度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192023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O(n)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59" y="192023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O(nlogn)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377439"/>
            <a:ext cx="8229600" cy="457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42315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  <a:latin typeface="Microsoft YaHei"/>
              </a:defRPr>
            </a:pPr>
            <a:r>
              <a:t>空间复杂度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42315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O(1)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59" y="242315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O(n)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880360"/>
            <a:ext cx="82296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292607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  <a:latin typeface="Microsoft YaHei"/>
              </a:defRPr>
            </a:pPr>
            <a:r>
              <a:t>实现难度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292607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中等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59" y="292607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较高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383280"/>
            <a:ext cx="8229600" cy="457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429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  <a:latin typeface="Microsoft YaHei"/>
              </a:defRPr>
            </a:pPr>
            <a:r>
              <a:t>适用场景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3429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通用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59" y="3429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特定场景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64008" cy="457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93B"/>
                </a:solidFill>
                <a:latin typeface="Microsoft YaHei"/>
              </a:defRPr>
            </a:pPr>
            <a:r>
              <a:t>C语言指针知识结构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846320" y="3291840"/>
            <a:ext cx="2194560" cy="77724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C语言指针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20640" y="822960"/>
            <a:ext cx="1645920" cy="59436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基本概念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80960" y="3383280"/>
            <a:ext cx="1645920" cy="5943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核心操作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5943600"/>
            <a:ext cx="1645920" cy="5943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应用场景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60320" y="3383280"/>
            <a:ext cx="1645920" cy="59436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常见错误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64008" cy="457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93B"/>
                </a:solidFill>
                <a:latin typeface="Microsoft YaHei"/>
              </a:defRPr>
            </a:pPr>
            <a:r>
              <a:t>常见易错点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5156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5361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F4444"/>
                </a:solidFill>
                <a:latin typeface="Microsoft YaHei"/>
              </a:defRPr>
            </a:pPr>
            <a:r>
              <a:t>❌  混淆C语言指针的相关概念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47088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0B981"/>
                </a:solidFill>
                <a:latin typeface="Microsoft YaHei"/>
              </a:defRPr>
            </a:pPr>
            <a:r>
              <a:t>✅  对比学习，明确每个概念的定义和区别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43200"/>
            <a:ext cx="105156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81635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F4444"/>
                </a:solidFill>
                <a:latin typeface="Microsoft YaHei"/>
              </a:defRPr>
            </a:pPr>
            <a:r>
              <a:t>❌  忽略边界条件（空表、单元素等）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127248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0B981"/>
                </a:solidFill>
                <a:latin typeface="Microsoft YaHei"/>
              </a:defRPr>
            </a:pPr>
            <a:r>
              <a:t>✅  写代码前先画图分析边界情况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23360"/>
            <a:ext cx="105156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09651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F4444"/>
                </a:solidFill>
                <a:latin typeface="Microsoft YaHei"/>
              </a:defRPr>
            </a:pPr>
            <a:r>
              <a:t>❌  算法步骤顺序错误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07408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0B981"/>
                </a:solidFill>
                <a:latin typeface="Microsoft YaHei"/>
              </a:defRPr>
            </a:pPr>
            <a:r>
              <a:t>✅  按步骤逐一检查，特别是指针操作的顺序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64008" cy="457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93B"/>
                </a:solidFill>
                <a:latin typeface="Microsoft YaHei"/>
              </a:defRPr>
            </a:pPr>
            <a:r>
              <a:t>练习题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457200" cy="36576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Q1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Microsoft YaHei"/>
              </a:defRPr>
            </a:pPr>
            <a:r>
              <a:t>关于C语言指针，以下说法正确的是？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7373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A. C语言指针不需要初始化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011679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B. C语言指针的核心是递归思想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2860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C. C语言指针的时间复杂度一定是O(1)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5603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D. C语言指针只能用数组实现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80160" y="2926079"/>
            <a:ext cx="9601200" cy="4572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2971799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F46E5"/>
                </a:solidFill>
                <a:latin typeface="Microsoft YaHei"/>
              </a:defRPr>
            </a:pPr>
            <a:r>
              <a:t>答案: B  |  C语言指针的核心在于理解其递归/迭代的本质，其他选项都过于绝对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108960"/>
            <a:ext cx="457200" cy="36576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Q2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108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Microsoft YaHei"/>
              </a:defRPr>
            </a:pPr>
            <a:r>
              <a:t>以下关于C语言指针的时间复杂度，正确的是？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4747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A. 所有操作都是O(1)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749039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B. 查找操作是O(n)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023359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C. 插入操作是O(n²)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297679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D. 删除操作是O(1)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80160" y="4663440"/>
            <a:ext cx="9601200" cy="4572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63040" y="4709159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F46E5"/>
                </a:solidFill>
                <a:latin typeface="Microsoft YaHei"/>
              </a:defRPr>
            </a:pPr>
            <a:r>
              <a:t>答案: B  |  C语言指针的查找需要遍历，时间复杂度为O(n)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846320"/>
            <a:ext cx="457200" cy="36576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Q3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846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Microsoft YaHei"/>
              </a:defRPr>
            </a:pPr>
            <a:r>
              <a:t>实现C语言指针时最容易犯的错误是？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52120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A. 忘记初始化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54864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B. 指针操作顺序错误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57607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C. 没有处理空值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60350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D. 以上都是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280160" y="6400800"/>
            <a:ext cx="9601200" cy="4572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63040" y="6446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F46E5"/>
                </a:solidFill>
                <a:latin typeface="Microsoft YaHei"/>
              </a:defRPr>
            </a:pPr>
            <a:r>
              <a:t>答案: D  |  这三个都是常见错误，需要特别注意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F46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0" y="4114800"/>
            <a:ext cx="4572000" cy="4572000"/>
          </a:xfrm>
          <a:prstGeom prst="ellipse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总结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2011680"/>
            <a:ext cx="9144000" cy="594360"/>
          </a:xfrm>
          <a:prstGeom prst="round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210312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0E7FF"/>
                </a:solidFill>
                <a:latin typeface="Microsoft YaHei"/>
              </a:defRPr>
            </a:pPr>
            <a:r>
              <a:t>✦  掌握了C语言指针的核心概念和定义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2788920"/>
            <a:ext cx="9144000" cy="594360"/>
          </a:xfrm>
          <a:prstGeom prst="round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288036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0E7FF"/>
                </a:solidFill>
                <a:latin typeface="Microsoft YaHei"/>
              </a:defRPr>
            </a:pPr>
            <a:r>
              <a:t>✦  学会了C语言指针的基本操作实现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3566160"/>
            <a:ext cx="9144000" cy="594360"/>
          </a:xfrm>
          <a:prstGeom prst="round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365760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0E7FF"/>
                </a:solidFill>
                <a:latin typeface="Microsoft YaHei"/>
              </a:defRPr>
            </a:pPr>
            <a:r>
              <a:t>✦  理解了C语言指针的时间空间复杂度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4343400"/>
            <a:ext cx="9144000" cy="594360"/>
          </a:xfrm>
          <a:prstGeom prst="round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45920" y="443484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0E7FF"/>
                </a:solidFill>
                <a:latin typeface="Microsoft YaHei"/>
              </a:defRPr>
            </a:pPr>
            <a:r>
              <a:t>✦  识别了常见错误和注意事项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669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5B4FC"/>
                </a:solidFill>
                <a:latin typeface="Microsoft YaHei"/>
              </a:defRPr>
            </a:pPr>
            <a:r>
              <a:t>下一讲: 下一个相关主题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